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AB86AE77-CBC4-8F3B-F3ED-5E850171E873}">
          <p14:sldIdLst>
            <p14:sldId id="256"/>
            <p14:sldId id="257"/>
          </p14:sldIdLst>
        </p14:section>
        <p14:section name="Dataset" id="{B3B53F31-5234-D2A1-8DAD-8FCE3402179E}">
          <p14:sldIdLst>
            <p14:sldId id="258"/>
            <p14:sldId id="259"/>
            <p14:sldId id="260"/>
          </p14:sldIdLst>
        </p14:section>
        <p14:section name="Modelli lineari" id="{3C25E6FB-6827-7F0E-E21B-6BF57CCC2CE4}">
          <p14:sldIdLst>
            <p14:sldId id="261"/>
            <p14:sldId id="262"/>
            <p14:sldId id="263"/>
          </p14:sldIdLst>
        </p14:section>
        <p14:section name="Percettrone multistrato" id="{A66F365C-825D-B3A7-1D08-0FE71457DF1E}">
          <p14:sldIdLst>
            <p14:sldId id="264"/>
            <p14:sldId id="265"/>
            <p14:sldId id="266"/>
          </p14:sldIdLst>
        </p14:section>
        <p14:section name="Risultati" id="{E48C973F-AA9F-E8CC-E402-4D30513F429D}">
          <p14:sldIdLst>
            <p14:sldId id="267"/>
            <p14:sldId id="269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8" d="100"/>
          <a:sy n="178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02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Problema: dire se due qubit sono entangled a partire dalle misure. Percorso: dataset, modelli lineari (falliscono), MLP (95%).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15 medie sono le feature. L'entanglement e' una correlazione che resiste in tutti gli assi; una correlazione classica vive in un asse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Nessun valore mancante, tutte feature numeriche: niente imputazione ne' codifica.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Fisicamente: gli stati sono generati senza un asse di misura preferito, quindi la varianza e' uniforme.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Training = test: non e' overfitting, e' il tipo di confine a essere sbagliato. I valori di z nelle due classi hanno la stessa distribuzione: l'iperpiano non separa nulla. Il perceptron, fermato a meta' di un'oscillazione, risponde 'entangled' tre volte su quattro.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fisica un classificatore lineare sulle misure di Pauli si chiama testimone di entanglement: rileva solo gli entangled da una parte dell'iperpiano. Qui lo si ritrova imparato dai dati.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Tempi misurati su un solo core di CPU. n·d: n esempi per d=15 feature. Per l'MLP: forward = una moltiplicazione-somma per peso, backward circa il doppio.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718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it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502920"/>
            <a:ext cx="4109720" cy="41148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Rilevare l'entanglement di due qubit con una rete neurale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37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8C7AE6"/>
                </a:solidFill>
              </a:rPr>
              <a:t>Progetto d'esame di Intelligenza Computazionale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sz="1400" b="0">
                <a:solidFill>
                  <a:srgbClr val="8C7AE6"/>
                </a:solidFill>
              </a:rPr>
              <a:t>Machine learning e reti neurali</a:t>
            </a:r>
            <a:endParaRPr lang="en-US" sz="1800" dirty="0"/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</a:rPr>
              <a:t>Andrea Carlos De Simone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Il problema: entangled o separabile, dalle sole misure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qubit si misura lungo tre assi X, Y, Z; ogni misura dà +1 o −1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due qubit A e B, ripetendo le misure su tante copie, si ottengono 15 medie: 3 per A, 3 per B e 9 correlazioni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Stato entangled: gli esiti di A e B sono legati in tutti gli assi. Stato separabile: al più in uno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Classificazione binaria: ingresso = 15 medie, uscita = entangled (1) / separabile (0)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937760" y="1234440"/>
            <a:ext cx="3749039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b="1">
                <a:solidFill>
                  <a:srgbClr val="3B3F5C"/>
                </a:solidFill>
              </a:rPr>
              <a:t>Le tre correlazioni diagonali in due stati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937760" y="1600200"/>
          <a:ext cx="37490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F3B"/>
                          </a:solidFill>
                        </a:rPr>
                        <a:t>⟨XX⟩</a:t>
                      </a:r>
                    </a:p>
                  </a:txBody>
                  <a:tcPr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F3B"/>
                          </a:solidFill>
                        </a:rPr>
                        <a:t>⟨YY⟩</a:t>
                      </a:r>
                    </a:p>
                  </a:txBody>
                  <a:tcPr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F3B"/>
                          </a:solidFill>
                        </a:rPr>
                        <a:t>⟨ZZ⟩</a:t>
                      </a:r>
                    </a:p>
                  </a:txBody>
                  <a:tcPr>
                    <a:solidFill>
                      <a:srgbClr val="F1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F3B"/>
                          </a:solidFill>
                        </a:rPr>
                        <a:t>stato di Bell (entangled)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4572E"/>
                          </a:solidFill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4572E"/>
                          </a:solidFill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4572E"/>
                          </a:solidFill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F3B"/>
                          </a:solidFill>
                        </a:rPr>
                        <a:t>miscela classica (separabile)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86A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86A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86AB"/>
                          </a:solidFill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937760" y="2926080"/>
            <a:ext cx="3749039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B3F5C"/>
                </a:solidFill>
              </a:rPr>
              <a:t>Bell: gli esiti di A e B coincidono (o sono opposti) lungo tutti e tre gli assi.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B3F5C"/>
                </a:solidFill>
              </a:rPr>
              <a:t>Miscela classica: coincidono solo lungo Z; lungo X e Y ogni qubit risponde a caso per conto suo.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Il dataset: stati generati, etichette esatte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38 248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stati di due qubit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feature per stato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50 / 50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entangled / separabili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94360" y="2633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Generazione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97180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Non esistono dataset pubblici etichettati. Tre generatori: stati generici casuali, stati puri degradati da rumore (popolano il confine), stati separabili per costruzione.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25603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3383280" y="2633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Etichetta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97180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 = entangled, 0 = separabile, calcolata con un test esatto (criterio di Peres-Horodecki): nessun errore nelle etichette. Verifica: gli stati separabili per costruzione risultano tutti 0.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5603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172200" y="2633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Bilanciamento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97180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Classi portate al 50 % scartando a caso gli esempi in eccesso: l'accuratezza diventa leggibile e il modello non può rispondere sempre la classe più frequente.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Esplorazione dei dati: istogrammi e PCA</a:t>
            </a:r>
            <a:endParaRPr lang="en-US" sz="2600" dirty="0"/>
          </a:p>
        </p:txBody>
      </p:sp>
      <p:pic>
        <p:nvPicPr>
          <p:cNvPr id="3" name="Image 0" descr="fig/fi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120640" cy="2560320"/>
          </a:xfrm>
          <a:prstGeom prst="rect">
            <a:avLst/>
          </a:prstGeom>
        </p:spPr>
      </p:pic>
      <p:pic>
        <p:nvPicPr>
          <p:cNvPr id="4" name="Image 1" descr="fig/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143000"/>
            <a:ext cx="3017520" cy="1417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Istogrammi per classe: le distribuzioni si sovrappongono; i separabili stanno vicino a 0, gli entangled si spalmano fino a ±1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669280" y="26974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PCA sulle feature standardizzate: ogni componente spiega circa 1/15 della varianza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Nessuna direzione privilegiata: ridurre le feature butterebbe via informazione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Preprocessing: split stratificato e standardizzazione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18872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1F3B"/>
                </a:solidFill>
              </a:rPr>
              <a:t>Modelli lineari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481328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B3F5C"/>
                </a:solidFill>
              </a:rPr>
              <a:t>nulla da decidere durante l'addestramento: basta il 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1188720"/>
            <a:ext cx="4480559" cy="548640"/>
          </a:xfrm>
          <a:prstGeom prst="rect">
            <a:avLst/>
          </a:prstGeom>
          <a:solidFill>
            <a:srgbClr val="5B3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Training 70 %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1792224"/>
            <a:ext cx="4480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5B3FD9"/>
                </a:solidFill>
              </a:rPr>
              <a:t>26 773 stati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59" y="1188720"/>
            <a:ext cx="1920240" cy="5486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Test 30 %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179222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4572E"/>
                </a:solidFill>
              </a:rPr>
              <a:t>11 475 stati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3774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1F3B"/>
                </a:solidFill>
              </a:rPr>
              <a:t>MLP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670048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B3F5C"/>
                </a:solidFill>
              </a:rPr>
              <a:t>la validation serve per l'early stopping e la scelta della rete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2377440"/>
            <a:ext cx="4480559" cy="548640"/>
          </a:xfrm>
          <a:prstGeom prst="rect">
            <a:avLst/>
          </a:prstGeom>
          <a:solidFill>
            <a:srgbClr val="5B3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Training 70 %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2980944"/>
            <a:ext cx="4480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5B3FD9"/>
                </a:solidFill>
              </a:rPr>
              <a:t>26 773 stati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59" y="2377440"/>
            <a:ext cx="96012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Validation 15 %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298094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2E86AB"/>
                </a:solidFill>
              </a:rPr>
              <a:t>5 737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79" y="2377440"/>
            <a:ext cx="960120" cy="54864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Test 15 %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298094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4572E"/>
                </a:solidFill>
              </a:rPr>
              <a:t>5 738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B3F5C"/>
                </a:solidFill>
              </a:rPr>
              <a:t>Split stratificato: le due classi restano al 50 % in ciascun insieme.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749039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1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3822191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3FD9"/>
                </a:solidFill>
              </a:rPr>
              <a:t>Standardizzazione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1148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B1F3B"/>
                </a:solidFill>
              </a:rPr>
              <a:t>x′ = (x − μ) / 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384048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1F3B"/>
                </a:solidFill>
              </a:rPr>
              <a:t>μ e σ di ogni feature calcolate sul solo training e poi applicate agli altri insiemi: il test resta dati mai visti. Serve alla discesa del gradiente: feature con scale diverse darebbero aggiornamenti dei pesi sbilanciati.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Prima domanda: le classi sono linearmente separabili?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88036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9436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Perceptron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Calcola z = w·x + b e predice 1 se z &gt; 0.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 sbaglia corregge i pesi: Δw = η (y − ŷ) x; se indovina non tocca nulla.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Converge solo se le classi sono linearmente separabili; altrimenti oscilla e si ferma quando l'errore non migliora per 5 epoche.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η = 0,1 con feature standardizzate.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288036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80060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Regressione logistica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0020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Stessa z, passata nella sigmoide: ŷ = σ(z) ∈ (0, 1), letta come probabilità di "entangled".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 pesi minimizzano la cross-entropy con la discesa del gradiente: converge sempre.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Il confine di decisione resta l'iperpiano z = 0.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Regolarizzazione C = 1: con 27 000 esempi e 15 pesi l'overfitting non è un rischio.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B3FD9"/>
                </a:solidFill>
              </a:rPr>
              <a:t>La cross-entropy è convessa rispetto a w: la discesa del gradiente trova il minimo globale, cioè il miglior iperpiano possibile. Il perceptron è il confronto con il modello più semplice.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Risultato: accuratezza al 50 %, già sul training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97680" cy="115214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accuratezza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accuratezza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iterazioni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Perceptron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84632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Logistica: matrice di confusione (test)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474720"/>
          <a:ext cx="3840480" cy="98755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entangled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separabile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 entangled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 separabile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2 703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Image 0" descr="fig/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097280"/>
            <a:ext cx="3566160" cy="1920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Perceptron: matrice di confusione (test)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3840480" cy="98755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entangled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separabile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 entangled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 separabile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4 470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57200" y="4498848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B3F5C"/>
                </a:solidFill>
              </a:rPr>
              <a:t>Perceptron: fermato a metà di un'oscillazione, risponde "entangled" tre volte su quattro. Logistica: al minimo globale della cross-entropy (convessa in w), nessun iperpiano può fare meglio del 50 %. Training = test: non è overfitting.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Perché un iperpiano non basta</a:t>
            </a:r>
            <a:endParaRPr lang="en-US" sz="2600" dirty="0"/>
          </a:p>
        </p:txBody>
      </p:sp>
      <p:pic>
        <p:nvPicPr>
          <p:cNvPr id="3" name="Image 0" descr="fig/geomet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754880" cy="3337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118872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Gli stati separabili formano una regione convessa, con al centro il puro rumore (tutte le feature a 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Gli entangled la circondano da ogni lato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iperpiano stacca una sola "calotta" di entangled; tutti gli altri finiscono con i separabili: con stati generici il risultato è il caso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Serve un confine curvo che avvolga la regione: lo costruisce un MLP, combinando molti iperpiani in modo non lineare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Il percettrone multistrato</a:t>
            </a:r>
            <a:endParaRPr lang="en-US" sz="2600" dirty="0"/>
          </a:p>
        </p:txBody>
      </p:sp>
      <p:pic>
        <p:nvPicPr>
          <p:cNvPr id="3" name="Image 0" descr="fig/m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937760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77840" y="118872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Ogni neurone nascosto calcola la propria z = w·a + b: un iperpiano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 ReLU, max(0, z), rende la rete non lineare; gli strati successivi combinano le z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Ogni strato: Z = A Wᵀ + b, con W di dimensione (neuroni × ingressi)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Uscita: un solo logit. La sigmoide è dentro la loss (BCEWithLogitsLoss) per stabilità numerica; classe = z &gt; 0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Rete scelta: 15 → 128 → 128 → 64 → 1, 26 881 parametri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Addestramento, architettura, regolarizzazione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Forward  </a:t>
            </a:r>
            <a:r>
              <a:rPr lang="en-US" sz="1300" dirty="0">
                <a:solidFill>
                  <a:schemeClr val="tx1"/>
                </a:solidFill>
              </a:rPr>
              <a:t>logit per ogni esempio del mini-batch (128)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720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47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Loss  </a:t>
            </a:r>
            <a:r>
              <a:rPr lang="en-US" sz="1300" dirty="0">
                <a:solidFill>
                  <a:schemeClr val="tx1"/>
                </a:solidFill>
              </a:rPr>
              <a:t>cross-entropy binaria sui logit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57200" y="2505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054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Backward  </a:t>
            </a:r>
            <a:r>
              <a:rPr lang="en-US" sz="1300" dirty="0">
                <a:solidFill>
                  <a:schemeClr val="tx1"/>
                </a:solidFill>
              </a:rPr>
              <a:t>gradiente della loss rispetto a ogni peso (backpropagation)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57200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638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Step  </a:t>
            </a:r>
            <a:r>
              <a:rPr lang="en-US" sz="1300" dirty="0">
                <a:solidFill>
                  <a:schemeClr val="tx1"/>
                </a:solidFill>
              </a:rPr>
              <a:t>Adam aggiorna i pesi, learning rate 10⁻³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57200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822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Validation  </a:t>
            </a:r>
            <a:r>
              <a:rPr lang="en-US" sz="1300" dirty="0">
                <a:solidFill>
                  <a:schemeClr val="tx1"/>
                </a:solidFill>
              </a:rPr>
              <a:t>a fine epoca; early stopping con pazienza 5 epoche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Confronto sulla validation (il test resta intatto)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508760"/>
          <a:ext cx="374904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 nascosti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· 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3 137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· 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10 369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· 128 · 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26 881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· 256 · 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102 913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937760" y="3291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chemeClr val="tx1"/>
                </a:solidFill>
              </a:rPr>
              <a:t>Si tiene la più piccola che raggiunge il massimo: la rete 4 volte più grande non impara nulla in più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chemeClr val="tx1"/>
                </a:solidFill>
              </a:rPr>
              <a:t>Poi, a parità di architettura, si prova la regolarizzazione: dropout 0,1 dopo ogni ReLU abbassa la loss di validation da 0,118 a 0,100; il weight decay non cambia nulla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Overfitting ed early stopping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chemeClr val="tx1"/>
                </a:solidFill>
              </a:rPr>
              <a:t>Senza regolarizzazione la loss di training scende verso zero (27 000 parametri memorizzano gli esempi) mentre quella di validation risale dopo l'epoca 16: overfitting. Con dropout 0,1 la validation arriva più in basso e il minimo si sposta all'epoca 28.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chemeClr val="tx1"/>
                </a:solidFill>
              </a:rPr>
              <a:t>Early stopping: si conserva la rete dell'epoca migliore e, dopo 5 epoche senza miglioramento, l'addestramento si interrompe (epoca 33). Continuare sarebbe solo tempo di calcolo sprecato.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Picture 25" descr="curve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Risultato dell'MLP sul test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1148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Matrice di confusione dell'MLP (test, 5 738 stati)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508760"/>
          <a:ext cx="4572000" cy="104241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entangled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separabile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 entangled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2 742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 separabile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2 746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0,957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411480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precision su "entangled"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0,956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recall su "entangled"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3931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chemeClr val="tx1"/>
                </a:solidFill>
              </a:rPr>
              <a:t>La metrica che conta è la precision sugli entangled: un falso positivo (123 casi) significa usare come risorsa un entanglement che non c'è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37160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5B3FD9"/>
                </a:solidFill>
              </a:rPr>
              <a:t>95,6 %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5146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3B3F5C"/>
                </a:solidFill>
              </a:rPr>
              <a:t>accuratezza sul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01752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B3F5C"/>
                </a:solidFill>
              </a:rPr>
              <a:t>5 738 stati mai visti durante l'addestramento né nella scelta della rete; 250 errori in tutto.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Costo computazionale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3B"/>
                          </a:solidFill>
                        </a:rPr>
                        <a:t>modello</a:t>
                      </a:r>
                    </a:p>
                  </a:txBody>
                  <a:tcPr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3B"/>
                          </a:solidFill>
                        </a:rPr>
                        <a:t>operazioni per epoca</a:t>
                      </a:r>
                    </a:p>
                  </a:txBody>
                  <a:tcPr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3B"/>
                          </a:solidFill>
                        </a:rPr>
                        <a:t>tempo per epoca</a:t>
                      </a:r>
                    </a:p>
                  </a:txBody>
                  <a:tcPr>
                    <a:solidFill>
                      <a:srgbClr val="F1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3B"/>
                          </a:solidFill>
                        </a:rPr>
                        <a:t>inferenza per stato</a:t>
                      </a:r>
                    </a:p>
                  </a:txBody>
                  <a:tcPr>
                    <a:solidFill>
                      <a:srgbClr val="F1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3B"/>
                          </a:solidFill>
                        </a:rPr>
                        <a:t>Perceptron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n·d ≈ 4·10⁵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≈ 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15 moltiplicazioni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3B"/>
                          </a:solidFill>
                        </a:rPr>
                        <a:t>Logistica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n·d ≈ 4·10⁵ per iterazione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≈ 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15 moltiplicazioni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3B"/>
                          </a:solidFill>
                        </a:rPr>
                        <a:t>MLP 128·128·64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≈ 3·n·26 881 ≈ 2·10⁹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≈ 0,4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26 881 moltiplicazioni, ≈ 0,8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3B"/>
                          </a:solidFill>
                        </a:rPr>
                        <a:t>idem + dropout 0,1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≈ 2·10⁹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≈ 0,5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come sopra (dropout spento)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2135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3B"/>
                          </a:solidFill>
                        </a:rPr>
                        <a:t>MLP 256·256·128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≈ 3·n·102 913 ≈ 8·10⁹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≈ 0,6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3B"/>
                          </a:solidFill>
                        </a:rPr>
                        <a:t>102 913 moltiplicazioni, ≈ 2,7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20440"/>
            <a:ext cx="82296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600"/>
              </a:spcAft>
              <a:buChar char="•"/>
            </a:pPr>
            <a:r>
              <a:rPr sz="1100" b="0">
                <a:solidFill>
                  <a:srgbClr val="3B3F5C"/>
                </a:solidFill>
              </a:rPr>
              <a:t>Tutti i costi crescono linearmente con il numero di esempi n = 26 773 e con il numero di pesi: per l'MLP il costo di un esempio è circa il numero di pesi in avanti e il doppio all'indietro (backpropagation); lo strato 128×128 pesa da solo il 61 %. 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100" b="0">
                <a:solidFill>
                  <a:srgbClr val="3B3F5C"/>
                </a:solidFill>
              </a:rPr>
              <a:t>L'MLP costa circa mille volte i modelli lineari, ma risolve un problema che quelli non risolvono; la rete più grande costa 1,5× per epoca (4× in operazioni) e 3,4× in inferenza senza alcun guadagno: si è scelta la più piccola che raggiunge il massimo. La ricerca degli iperparametri costa circa 2 minuti in tutto e si paga una volta sola.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Conclusioni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2A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3A683"/>
                </a:solidFill>
              </a:rPr>
              <a:t>50 %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3A683"/>
                </a:solidFill>
              </a:rPr>
              <a:t>modelli lineari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Perceptron e logistica restano al caso, già sul training: le classi non sono linearmente separabili, perché i separabili sono una regione convessa circondata dagli entangled.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1732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2A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8C7AE6"/>
                </a:solidFill>
              </a:rPr>
              <a:t>95,6 %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C7AE6"/>
                </a:solidFill>
              </a:rPr>
              <a:t>MLP sul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9748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Tre strati nascosti con ReLU e dropout 0,1, scelti sulla validation e fermati dall'early stopping; precision 0,957 sugli entangled.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1732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2A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7FC4DE"/>
                </a:solidFill>
              </a:rPr>
              <a:t>15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FC4DE"/>
                </a:solidFill>
              </a:rPr>
              <a:t>feature necessarie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La PCA mostra varianza uniforme e i modelli lineari falliscono: nessuna feature si può scartare.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C7AE6"/>
                </a:solidFill>
              </a:rPr>
              <a:t>Dalle sole medie delle misure una rete neurale riconosce l'entanglement di due qubit.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80" y="4713062"/>
            <a:ext cx="2103140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i="1">
                <a:solidFill>
                  <a:srgbClr val="8C7AE6"/>
                </a:solidFill>
              </a:rPr>
              <a:t>Realizzato con il supporto di Claude Fable 5.1</a:t>
            </a:r>
          </a:p>
        </p:txBody>
      </p:sp>
      <p:pic>
        <p:nvPicPr>
          <p:cNvPr id="17" name="Picture 16" descr="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645152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ntanglement">
  <a:themeElements>
    <a:clrScheme name="Entanglement">
      <a:dk1>
        <a:srgbClr val="1B1F3B"/>
      </a:dk1>
      <a:lt1>
        <a:srgbClr val="FFFFFF"/>
      </a:lt1>
      <a:dk2>
        <a:srgbClr val="3B3F5C"/>
      </a:dk2>
      <a:lt2>
        <a:srgbClr val="F1EFFB"/>
      </a:lt2>
      <a:accent1>
        <a:srgbClr val="5B3FD9"/>
      </a:accent1>
      <a:accent2>
        <a:srgbClr val="E4572E"/>
      </a:accent2>
      <a:accent3>
        <a:srgbClr val="2E86AB"/>
      </a:accent3>
      <a:accent4>
        <a:srgbClr val="8C7AE6"/>
      </a:accent4>
      <a:accent5>
        <a:srgbClr val="F3A683"/>
      </a:accent5>
      <a:accent6>
        <a:srgbClr val="9CA3AF"/>
      </a:accent6>
      <a:hlink>
        <a:srgbClr val="5B3FD9"/>
      </a:hlink>
      <a:folHlink>
        <a:srgbClr val="8C7AE6"/>
      </a:folHlink>
    </a:clrScheme>
    <a:fontScheme name="Entanglem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1863</Words>
  <Application>Microsoft Macintosh PowerPoint</Application>
  <PresentationFormat>On-screen Show (16:9)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Entanglement</vt:lpstr>
      <vt:lpstr>Rilevare l'entanglement di due qubit con una rete neurale</vt:lpstr>
      <vt:lpstr>Il problema: entangled o separabile, dalle sole misure</vt:lpstr>
      <vt:lpstr>Il dataset: stati generati, etichette esatte</vt:lpstr>
      <vt:lpstr>Esplorazione dei dati: istogrammi e PCA</vt:lpstr>
      <vt:lpstr>Preprocessing: split stratificato e standardizzazione</vt:lpstr>
      <vt:lpstr>Prima domanda: le classi sono linearmente separabili?</vt:lpstr>
      <vt:lpstr>Risultato: accuratezza al 50 %, già sul training</vt:lpstr>
      <vt:lpstr>Perché un iperpiano non basta</vt:lpstr>
      <vt:lpstr>Il percettrone multistrato</vt:lpstr>
      <vt:lpstr>Addestramento, architettura, regolarizzazione</vt:lpstr>
      <vt:lpstr>Overfitting ed early stopping</vt:lpstr>
      <vt:lpstr>Risultato dell'MLP sul test</vt:lpstr>
      <vt:lpstr>Costo computazionale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Rilevare l'entanglement di due qubit con una rete neurale</dc:title>
  <dc:subject>PptxGenJS Presentation</dc:subject>
  <dc:creator>Andrea Carlos De Simone</dc:creator>
  <cp:lastModifiedBy>ANDREA CARLOS DE SIMONE</cp:lastModifiedBy>
  <cp:revision>3</cp:revision>
  <dcterms:created xsi:type="dcterms:W3CDTF">2026-10-11T18:09:55Z</dcterms:created>
  <dcterms:modified xsi:type="dcterms:W3CDTF">2026-10-12T19:22:15Z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2026-10-12T16:59:46Z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1770464d-8b55-45f6-acfe-b6daa59232bb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